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Keyword rankings" id="{4b7b2870-81be-27f9-1e5a-f544c8099c79}">
          <p14:sldIdLst>
            <p14:sldId id="25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Top 10</c:v>
                </c:pt>
              </c:strCache>
            </c:strRef>
          </c:tx>
          <c:spPr>
            <a:solidFill>
              <a:srgbClr val="0B7A75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B2333"/>
                    </a:solidFill>
                    <a:latin typeface="+mn-lt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UK</c:v>
                  </c:pt>
                  <c:pt idx="1">
                    <c:v>US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4.4</c:v>
                </c:pt>
                <c:pt idx="1">
                  <c:v>1.4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#11–20</c:v>
                </c:pt>
              </c:strCache>
            </c:strRef>
          </c:tx>
          <c:spPr>
            <a:solidFill>
              <a:srgbClr val="E8A33D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B2333"/>
                    </a:solidFill>
                    <a:latin typeface="+mn-lt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UK</c:v>
                  </c:pt>
                  <c:pt idx="1">
                    <c:v>US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11.7</c:v>
                </c:pt>
                <c:pt idx="1">
                  <c:v>15.5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#21–100</c:v>
                </c:pt>
              </c:strCache>
            </c:strRef>
          </c:tx>
          <c:spPr>
            <a:solidFill>
              <a:srgbClr val="8F9BAD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B2333"/>
                    </a:solidFill>
                    <a:latin typeface="+mn-lt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UK</c:v>
                  </c:pt>
                  <c:pt idx="1">
                    <c:v>US</c:v>
                  </c:pt>
                </c:lvl>
              </c:multiLvlStrCache>
            </c:multiLvl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2</c:v>
                </c:pt>
                <c:pt idx="1">
                  <c:v>12.7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Not ranking</c:v>
                </c:pt>
              </c:strCache>
            </c:strRef>
          </c:tx>
          <c:spPr>
            <a:solidFill>
              <a:srgbClr val="D9DEE6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B2333"/>
                    </a:solidFill>
                    <a:latin typeface="+mn-lt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UK</c:v>
                  </c:pt>
                  <c:pt idx="1">
                    <c:v>US</c:v>
                  </c:pt>
                </c:lvl>
              </c:multiLvlStrCache>
            </c:multiLvlStrRef>
          </c:cat>
          <c:val>
            <c:numRef>
              <c:f>Sheet1!$E$2:$E$3</c:f>
              <c:numCache>
                <c:formatCode>General</c:formatCode>
                <c:ptCount val="2"/>
                <c:pt idx="0">
                  <c:v>81.9</c:v>
                </c:pt>
                <c:pt idx="1">
                  <c:v>70.4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0" i="0" strike="noStrike" sz="1000" u="none">
                  <a:solidFill>
                    <a:srgbClr val="1B2333"/>
                  </a:solidFill>
                  <a:latin typeface="+mn-lt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10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B2333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5B6576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UK changes cover 1–15 Oct; US changes cover 15 Sep–15 Oct, so movement sizes are not directly comparable. Rank 100 in the export means not in the top 100. Desktop rankings only.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11274552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914400"/>
            <a:ext cx="11274552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400" dirty="0">
                <a:solidFill>
                  <a:schemeClr val="tx2"/>
                </a:solidFill>
              </a:defRPr>
            </a:lvl1pPr>
          </a:lstStyle>
          <a:p>
            <a:pPr indent="0" marL="0">
              <a:buNone/>
            </a:pPr>
            <a:endParaRPr lang="en-US" sz="1400" dirty="0"/>
          </a:p>
        </p:txBody>
      </p:sp>
      <p:sp>
        <p:nvSpPr>
          <p:cNvPr id="4" name="Text 0"/>
          <p:cNvSpPr txBox="1"/>
          <p:nvPr/>
        </p:nvSpPr>
        <p:spPr>
          <a:xfrm>
            <a:off x="457200" y="6473952"/>
            <a:ext cx="112745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Source: MVQ keyword rank exports, desktop. UK 1–15 Oct 2026 · US 15 Sep–15 Oct 2026. Volumes are monthly estimates; “not ranking” = outside the top 100.</a:t>
            </a:r>
            <a:endParaRPr lang="en-US" sz="1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We rank for niche payments topics but miss the high-volume searches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914400"/>
            <a:ext cx="11274552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checkout.com MVQ keywords: 89 tracked in the UK (40k searches/month), 85 in the US (159k searches/month)</a:t>
            </a:r>
            <a:endParaRPr lang="en-US" sz="1400" dirty="0"/>
          </a:p>
        </p:txBody>
      </p:sp>
      <p:sp>
        <p:nvSpPr>
          <p:cNvPr id="4" name="KPI 1"/>
          <p:cNvSpPr/>
          <p:nvPr/>
        </p:nvSpPr>
        <p:spPr>
          <a:xfrm>
            <a:off x="457200" y="1463040"/>
            <a:ext cx="1600200" cy="128016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94360" y="155448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Keywords on page 1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2029968"/>
            <a:ext cx="6629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14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2450592"/>
            <a:ext cx="6629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UK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1257300" y="2029968"/>
            <a:ext cx="6629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6"/>
                </a:solidFill>
              </a:rPr>
              <a:t>7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1257300" y="2450592"/>
            <a:ext cx="6629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US</a:t>
            </a:r>
            <a:endParaRPr lang="en-US" sz="1000" dirty="0"/>
          </a:p>
        </p:txBody>
      </p:sp>
      <p:sp>
        <p:nvSpPr>
          <p:cNvPr id="10" name="KPI 2"/>
          <p:cNvSpPr/>
          <p:nvPr/>
        </p:nvSpPr>
        <p:spPr>
          <a:xfrm>
            <a:off x="2240280" y="1463040"/>
            <a:ext cx="1600200" cy="128016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2377440" y="155448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Search volume in top 10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2377440" y="2029968"/>
            <a:ext cx="6629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4%</a:t>
            </a:r>
            <a:endParaRPr lang="en-US" sz="2400" dirty="0"/>
          </a:p>
        </p:txBody>
      </p:sp>
      <p:sp>
        <p:nvSpPr>
          <p:cNvPr id="13" name="Text 11"/>
          <p:cNvSpPr txBox="1"/>
          <p:nvPr/>
        </p:nvSpPr>
        <p:spPr>
          <a:xfrm>
            <a:off x="2377440" y="2450592"/>
            <a:ext cx="6629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UK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3040380" y="2029968"/>
            <a:ext cx="6629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6"/>
                </a:solidFill>
              </a:rPr>
              <a:t>1%</a:t>
            </a:r>
            <a:endParaRPr lang="en-US" sz="2400" dirty="0"/>
          </a:p>
        </p:txBody>
      </p:sp>
      <p:sp>
        <p:nvSpPr>
          <p:cNvPr id="15" name="Text 13"/>
          <p:cNvSpPr txBox="1"/>
          <p:nvPr/>
        </p:nvSpPr>
        <p:spPr>
          <a:xfrm>
            <a:off x="3040380" y="2450592"/>
            <a:ext cx="6629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US</a:t>
            </a:r>
            <a:endParaRPr lang="en-US" sz="1000" dirty="0"/>
          </a:p>
        </p:txBody>
      </p:sp>
      <p:sp>
        <p:nvSpPr>
          <p:cNvPr id="16" name="KPI 3"/>
          <p:cNvSpPr/>
          <p:nvPr/>
        </p:nvSpPr>
        <p:spPr>
          <a:xfrm>
            <a:off x="4023360" y="1463040"/>
            <a:ext cx="1600200" cy="128016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4160520" y="155448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Keywords not in top 100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4160520" y="2029968"/>
            <a:ext cx="6629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65%</a:t>
            </a:r>
            <a:endParaRPr lang="en-US" sz="2400" dirty="0"/>
          </a:p>
        </p:txBody>
      </p:sp>
      <p:sp>
        <p:nvSpPr>
          <p:cNvPr id="19" name="Text 17"/>
          <p:cNvSpPr txBox="1"/>
          <p:nvPr/>
        </p:nvSpPr>
        <p:spPr>
          <a:xfrm>
            <a:off x="4160520" y="2450592"/>
            <a:ext cx="6629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UK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4823460" y="2029968"/>
            <a:ext cx="6629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6"/>
                </a:solidFill>
              </a:rPr>
              <a:t>56%</a:t>
            </a:r>
            <a:endParaRPr lang="en-US" sz="2400" dirty="0"/>
          </a:p>
        </p:txBody>
      </p:sp>
      <p:sp>
        <p:nvSpPr>
          <p:cNvPr id="21" name="Text 19"/>
          <p:cNvSpPr txBox="1"/>
          <p:nvPr/>
        </p:nvSpPr>
        <p:spPr>
          <a:xfrm>
            <a:off x="4823460" y="2450592"/>
            <a:ext cx="6629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US</a:t>
            </a:r>
            <a:endParaRPr lang="en-US" sz="1000" dirty="0"/>
          </a:p>
        </p:txBody>
      </p:sp>
      <p:sp>
        <p:nvSpPr>
          <p:cNvPr id="22" name="KPI 4"/>
          <p:cNvSpPr/>
          <p:nvPr/>
        </p:nvSpPr>
        <p:spPr>
          <a:xfrm>
            <a:off x="5806440" y="1463040"/>
            <a:ext cx="1600200" cy="128016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5943600" y="155448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AI Overviews citing only competitors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5943600" y="2029968"/>
            <a:ext cx="6629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78/89</a:t>
            </a:r>
            <a:endParaRPr lang="en-US" sz="1800" dirty="0"/>
          </a:p>
        </p:txBody>
      </p:sp>
      <p:sp>
        <p:nvSpPr>
          <p:cNvPr id="25" name="Text 23"/>
          <p:cNvSpPr txBox="1"/>
          <p:nvPr/>
        </p:nvSpPr>
        <p:spPr>
          <a:xfrm>
            <a:off x="5943600" y="2450592"/>
            <a:ext cx="6629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UK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6606540" y="2029968"/>
            <a:ext cx="6629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6"/>
                </a:solidFill>
              </a:rPr>
              <a:t>78/85</a:t>
            </a:r>
            <a:endParaRPr lang="en-US" sz="1800" dirty="0"/>
          </a:p>
        </p:txBody>
      </p:sp>
      <p:sp>
        <p:nvSpPr>
          <p:cNvPr id="27" name="Text 25"/>
          <p:cNvSpPr txBox="1"/>
          <p:nvPr/>
        </p:nvSpPr>
        <p:spPr>
          <a:xfrm>
            <a:off x="6606540" y="2450592"/>
            <a:ext cx="6629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US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457200" y="292608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Where the tracked search volume sits</a:t>
            </a:r>
            <a:endParaRPr lang="en-US" sz="1400" dirty="0"/>
          </a:p>
        </p:txBody>
      </p:sp>
      <p:graphicFrame>
        <p:nvGraphicFramePr>
          <p:cNvPr id="29" name="Volume by rank band" descr=""/>
          <p:cNvGraphicFramePr/>
          <p:nvPr/>
        </p:nvGraphicFramePr>
        <p:xfrm>
          <a:off x="365760" y="3200400"/>
          <a:ext cx="7132320" cy="1737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30" name="Gaining card"/>
          <p:cNvSpPr/>
          <p:nvPr/>
        </p:nvSpPr>
        <p:spPr>
          <a:xfrm>
            <a:off x="457200" y="5074920"/>
            <a:ext cx="3383280" cy="1261872"/>
          </a:xfrm>
          <a:prstGeom prst="roundRect">
            <a:avLst>
              <a:gd name="adj" fmla="val 5797"/>
            </a:avLst>
          </a:prstGeom>
          <a:solidFill>
            <a:schemeClr val="bg2"/>
          </a:solidFill>
          <a:ln/>
        </p:spPr>
      </p:sp>
      <p:sp>
        <p:nvSpPr>
          <p:cNvPr id="31" name="Text 28"/>
          <p:cNvSpPr txBox="1"/>
          <p:nvPr/>
        </p:nvSpPr>
        <p:spPr>
          <a:xfrm>
            <a:off x="594360" y="516636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Gaining</a:t>
            </a:r>
            <a:endParaRPr lang="en-US" sz="1300" dirty="0"/>
          </a:p>
        </p:txBody>
      </p:sp>
      <p:sp>
        <p:nvSpPr>
          <p:cNvPr id="32" name="Text 29"/>
          <p:cNvSpPr txBox="1"/>
          <p:nvPr/>
        </p:nvSpPr>
        <p:spPr>
          <a:xfrm>
            <a:off x="594360" y="5458968"/>
            <a:ext cx="31089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Fraud detection: UK unranked → #6, US +73 → #27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Credit card processing: UK +11 → #13, US +5 → #17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US: payment API +32 → #3, payout unranked → #18</a:t>
            </a:r>
            <a:endParaRPr lang="en-US" sz="1100" dirty="0"/>
          </a:p>
        </p:txBody>
      </p:sp>
      <p:sp>
        <p:nvSpPr>
          <p:cNvPr id="33" name="Losing ground card"/>
          <p:cNvSpPr/>
          <p:nvPr/>
        </p:nvSpPr>
        <p:spPr>
          <a:xfrm>
            <a:off x="4023360" y="5074920"/>
            <a:ext cx="3383280" cy="1261872"/>
          </a:xfrm>
          <a:prstGeom prst="roundRect">
            <a:avLst>
              <a:gd name="adj" fmla="val 5797"/>
            </a:avLst>
          </a:prstGeom>
          <a:solidFill>
            <a:schemeClr val="bg2"/>
          </a:solidFill>
          <a:ln/>
        </p:spPr>
      </p:sp>
      <p:sp>
        <p:nvSpPr>
          <p:cNvPr id="34" name="Text 31"/>
          <p:cNvSpPr txBox="1"/>
          <p:nvPr/>
        </p:nvSpPr>
        <p:spPr>
          <a:xfrm>
            <a:off x="4160520" y="516636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5"/>
                </a:solidFill>
              </a:rPr>
              <a:t>Losing ground</a:t>
            </a:r>
            <a:endParaRPr lang="en-US" sz="1300" dirty="0"/>
          </a:p>
        </p:txBody>
      </p:sp>
      <p:sp>
        <p:nvSpPr>
          <p:cNvPr id="35" name="Text 32"/>
          <p:cNvSpPr txBox="1"/>
          <p:nvPr/>
        </p:nvSpPr>
        <p:spPr>
          <a:xfrm>
            <a:off x="4160520" y="5458968"/>
            <a:ext cx="31089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Payment gateway (US, 4.4k): #14 → #23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Payfac (US): #20 → #35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Marketplace solutions (UK): #4 → #8, lost AI citation</a:t>
            </a:r>
            <a:endParaRPr lang="en-US" sz="1100" dirty="0"/>
          </a:p>
        </p:txBody>
      </p:sp>
      <p:sp>
        <p:nvSpPr>
          <p:cNvPr id="36" name="Priorities panel"/>
          <p:cNvSpPr/>
          <p:nvPr/>
        </p:nvSpPr>
        <p:spPr>
          <a:xfrm>
            <a:off x="7772400" y="1463040"/>
            <a:ext cx="3959352" cy="4873752"/>
          </a:xfrm>
          <a:prstGeom prst="roundRect">
            <a:avLst>
              <a:gd name="adj" fmla="val 2309"/>
            </a:avLst>
          </a:prstGeom>
          <a:solidFill>
            <a:schemeClr val="accent6"/>
          </a:solidFill>
          <a:ln/>
        </p:spPr>
      </p:sp>
      <p:sp>
        <p:nvSpPr>
          <p:cNvPr id="37" name="Text 34"/>
          <p:cNvSpPr txBox="1"/>
          <p:nvPr/>
        </p:nvSpPr>
        <p:spPr>
          <a:xfrm>
            <a:off x="8046720" y="1645920"/>
            <a:ext cx="34107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Priorities</a:t>
            </a:r>
            <a:endParaRPr lang="en-US" sz="2000" dirty="0"/>
          </a:p>
        </p:txBody>
      </p:sp>
      <p:sp>
        <p:nvSpPr>
          <p:cNvPr id="38" name="Priority 1 marker"/>
          <p:cNvSpPr/>
          <p:nvPr/>
        </p:nvSpPr>
        <p:spPr>
          <a:xfrm>
            <a:off x="8046720" y="2194560"/>
            <a:ext cx="329184" cy="329184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39" name="Text 36"/>
          <p:cNvSpPr txBox="1"/>
          <p:nvPr/>
        </p:nvSpPr>
        <p:spPr>
          <a:xfrm>
            <a:off x="8046720" y="21945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1</a:t>
            </a:r>
            <a:endParaRPr lang="en-US" sz="1300" dirty="0"/>
          </a:p>
        </p:txBody>
      </p:sp>
      <p:sp>
        <p:nvSpPr>
          <p:cNvPr id="40" name="Text 37"/>
          <p:cNvSpPr txBox="1"/>
          <p:nvPr/>
        </p:nvSpPr>
        <p:spPr>
          <a:xfrm>
            <a:off x="8503920" y="2157984"/>
            <a:ext cx="299923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Push US #11–20 onto page 1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D9DEE6"/>
                </a:solidFill>
              </a:rPr>
              <a:t>~24.7k searches/month: payout, credit card processing, recurring payments, friendly fraud</a:t>
            </a:r>
            <a:endParaRPr lang="en-US" sz="1300" dirty="0"/>
          </a:p>
        </p:txBody>
      </p:sp>
      <p:sp>
        <p:nvSpPr>
          <p:cNvPr id="41" name="Priority 2 marker"/>
          <p:cNvSpPr/>
          <p:nvPr/>
        </p:nvSpPr>
        <p:spPr>
          <a:xfrm>
            <a:off x="8046720" y="2999232"/>
            <a:ext cx="329184" cy="329184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42" name="Text 39"/>
          <p:cNvSpPr txBox="1"/>
          <p:nvPr/>
        </p:nvSpPr>
        <p:spPr>
          <a:xfrm>
            <a:off x="8046720" y="29992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2</a:t>
            </a:r>
            <a:endParaRPr lang="en-US" sz="1300" dirty="0"/>
          </a:p>
        </p:txBody>
      </p:sp>
      <p:sp>
        <p:nvSpPr>
          <p:cNvPr id="43" name="Text 40"/>
          <p:cNvSpPr txBox="1"/>
          <p:nvPr/>
        </p:nvSpPr>
        <p:spPr>
          <a:xfrm>
            <a:off x="8503920" y="2962656"/>
            <a:ext cx="299923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Recover payment gateway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D9DEE6"/>
                </a:solidFill>
              </a:rPr>
              <a:t>4.4k US searches; down 9 places in a month</a:t>
            </a:r>
            <a:endParaRPr lang="en-US" sz="1300" dirty="0"/>
          </a:p>
        </p:txBody>
      </p:sp>
      <p:sp>
        <p:nvSpPr>
          <p:cNvPr id="44" name="Priority 3 marker"/>
          <p:cNvSpPr/>
          <p:nvPr/>
        </p:nvSpPr>
        <p:spPr>
          <a:xfrm>
            <a:off x="8046720" y="3803904"/>
            <a:ext cx="329184" cy="329184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45" name="Text 42"/>
          <p:cNvSpPr txBox="1"/>
          <p:nvPr/>
        </p:nvSpPr>
        <p:spPr>
          <a:xfrm>
            <a:off x="8046720" y="380390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3</a:t>
            </a:r>
            <a:endParaRPr lang="en-US" sz="1300" dirty="0"/>
          </a:p>
        </p:txBody>
      </p:sp>
      <p:sp>
        <p:nvSpPr>
          <p:cNvPr id="46" name="Text 43"/>
          <p:cNvSpPr txBox="1"/>
          <p:nvPr/>
        </p:nvSpPr>
        <p:spPr>
          <a:xfrm>
            <a:off x="8503920" y="3767328"/>
            <a:ext cx="299923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Audit head terms that don't rank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D9DEE6"/>
                </a:solidFill>
              </a:rPr>
              <a:t>Issuing, chargebacks, payment methods, virtual card: pages exist but miss the top 100</a:t>
            </a:r>
            <a:endParaRPr lang="en-US" sz="1300" dirty="0"/>
          </a:p>
        </p:txBody>
      </p:sp>
      <p:sp>
        <p:nvSpPr>
          <p:cNvPr id="47" name="Priority 4 marker"/>
          <p:cNvSpPr/>
          <p:nvPr/>
        </p:nvSpPr>
        <p:spPr>
          <a:xfrm>
            <a:off x="8046720" y="4608576"/>
            <a:ext cx="329184" cy="329184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48" name="Text 45"/>
          <p:cNvSpPr txBox="1"/>
          <p:nvPr/>
        </p:nvSpPr>
        <p:spPr>
          <a:xfrm>
            <a:off x="8046720" y="460857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4</a:t>
            </a:r>
            <a:endParaRPr lang="en-US" sz="1300" dirty="0"/>
          </a:p>
        </p:txBody>
      </p:sp>
      <p:sp>
        <p:nvSpPr>
          <p:cNvPr id="49" name="Text 46"/>
          <p:cNvSpPr txBox="1"/>
          <p:nvPr/>
        </p:nvSpPr>
        <p:spPr>
          <a:xfrm>
            <a:off x="8503920" y="4572000"/>
            <a:ext cx="299923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Win AI Overview citations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D9DEE6"/>
                </a:solidFill>
              </a:rPr>
              <a:t>Clear definitions, FAQs, original data; start with lost citations</a:t>
            </a:r>
            <a:endParaRPr lang="en-US" sz="1300" dirty="0"/>
          </a:p>
        </p:txBody>
      </p:sp>
      <p:sp>
        <p:nvSpPr>
          <p:cNvPr id="50" name="Priority 5 marker"/>
          <p:cNvSpPr/>
          <p:nvPr/>
        </p:nvSpPr>
        <p:spPr>
          <a:xfrm>
            <a:off x="8046720" y="5413248"/>
            <a:ext cx="329184" cy="329184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51" name="Text 48"/>
          <p:cNvSpPr txBox="1"/>
          <p:nvPr/>
        </p:nvSpPr>
        <p:spPr>
          <a:xfrm>
            <a:off x="8046720" y="54132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5</a:t>
            </a:r>
            <a:endParaRPr lang="en-US" sz="1300" dirty="0"/>
          </a:p>
        </p:txBody>
      </p:sp>
      <p:sp>
        <p:nvSpPr>
          <p:cNvPr id="52" name="Text 49"/>
          <p:cNvSpPr txBox="1"/>
          <p:nvPr/>
        </p:nvSpPr>
        <p:spPr>
          <a:xfrm>
            <a:off x="8503920" y="5376672"/>
            <a:ext cx="299923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Share what works across markets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D9DEE6"/>
                </a:solidFill>
              </a:rPr>
              <a:t>Payout page to the UK; fix merchant account in the US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Keyword Rankings">
  <a:themeElements>
    <a:clrScheme name="Keyword Rankings">
      <a:dk1>
        <a:srgbClr val="1B2333"/>
      </a:dk1>
      <a:lt1>
        <a:srgbClr val="FFFFFF"/>
      </a:lt1>
      <a:dk2>
        <a:srgbClr val="5B6576"/>
      </a:dk2>
      <a:lt2>
        <a:srgbClr val="F1F4F8"/>
      </a:lt2>
      <a:accent1>
        <a:srgbClr val="0B7A75"/>
      </a:accent1>
      <a:accent2>
        <a:srgbClr val="E8A33D"/>
      </a:accent2>
      <a:accent3>
        <a:srgbClr val="8F9BAD"/>
      </a:accent3>
      <a:accent4>
        <a:srgbClr val="D9DEE6"/>
      </a:accent4>
      <a:accent5>
        <a:srgbClr val="C2453D"/>
      </a:accent5>
      <a:accent6>
        <a:srgbClr val="16243D"/>
      </a:accent6>
      <a:hlink>
        <a:srgbClr val="0B7A75"/>
      </a:hlink>
      <a:folHlink>
        <a:srgbClr val="5B6576"/>
      </a:folHlink>
    </a:clrScheme>
    <a:fontScheme name="Keyword Rankings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Keyword ranking evaluation – UK &amp; US</dc:title>
  <dc:subject>PptxGenJS Presentation</dc:subject>
  <dc:creator>PptxGenJS</dc:creator>
  <cp:lastModifiedBy>PptxGenJS</cp:lastModifiedBy>
  <cp:revision>1</cp:revision>
  <dcterms:created xsi:type="dcterms:W3CDTF">2026-10-15T11:58:37Z</dcterms:created>
  <dcterms:modified xsi:type="dcterms:W3CDTF">2026-10-15T11:58:37Z</dcterms:modified>
</cp:coreProperties>
</file>